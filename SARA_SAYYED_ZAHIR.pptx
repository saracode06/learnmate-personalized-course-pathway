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90" r:id="rId2"/>
    <p:sldId id="291" r:id="rId3"/>
    <p:sldId id="292" r:id="rId4"/>
    <p:sldId id="293" r:id="rId5"/>
    <p:sldId id="294" r:id="rId6"/>
    <p:sldId id="296" r:id="rId7"/>
    <p:sldId id="297" r:id="rId8"/>
    <p:sldId id="310" r:id="rId9"/>
    <p:sldId id="315" r:id="rId10"/>
    <p:sldId id="314" r:id="rId11"/>
    <p:sldId id="312" r:id="rId12"/>
    <p:sldId id="311" r:id="rId13"/>
    <p:sldId id="298" r:id="rId14"/>
    <p:sldId id="299" r:id="rId15"/>
    <p:sldId id="324" r:id="rId16"/>
    <p:sldId id="318" r:id="rId17"/>
    <p:sldId id="317" r:id="rId18"/>
    <p:sldId id="316" r:id="rId19"/>
    <p:sldId id="321" r:id="rId20"/>
    <p:sldId id="319" r:id="rId21"/>
    <p:sldId id="320" r:id="rId22"/>
    <p:sldId id="323" r:id="rId23"/>
    <p:sldId id="322" r:id="rId24"/>
    <p:sldId id="304" r:id="rId25"/>
    <p:sldId id="305" r:id="rId26"/>
    <p:sldId id="306" r:id="rId27"/>
    <p:sldId id="307" r:id="rId28"/>
    <p:sldId id="308" r:id="rId29"/>
    <p:sldId id="309"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2759" autoAdjust="0"/>
  </p:normalViewPr>
  <p:slideViewPr>
    <p:cSldViewPr snapToGrid="0">
      <p:cViewPr varScale="1">
        <p:scale>
          <a:sx n="108" d="100"/>
          <a:sy n="108" d="100"/>
        </p:scale>
        <p:origin x="-636" y="-7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sarasayy06@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Saracode06/LearnMate-Personalized-Course-Pathway.git"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xmlns=""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dirty="0" smtClean="0"/>
                        <a:t>   Sara </a:t>
                      </a:r>
                      <a:r>
                        <a:rPr lang="en-US" dirty="0" err="1" smtClean="0"/>
                        <a:t>Sayyed</a:t>
                      </a:r>
                      <a:r>
                        <a:rPr lang="en-US" dirty="0" smtClean="0"/>
                        <a:t> </a:t>
                      </a:r>
                      <a:r>
                        <a:rPr lang="en-US" dirty="0" err="1" smtClean="0"/>
                        <a:t>Zahir</a:t>
                      </a:r>
                      <a:r>
                        <a:rPr lang="en-US" dirty="0" smtClean="0"/>
                        <a:t> </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    </a:t>
                      </a:r>
                      <a:r>
                        <a:rPr lang="en-US" dirty="0" smtClean="0">
                          <a:hlinkClick r:id="rId3"/>
                        </a:rPr>
                        <a:t>sarasayy07@gmail.com</a:t>
                      </a:r>
                      <a:r>
                        <a:rPr lang="en-US" dirty="0" smtClean="0"/>
                        <a:t> </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             9420492611</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err="1" smtClean="0">
                <a:solidFill>
                  <a:srgbClr val="002060"/>
                </a:solidFill>
                <a:highlight>
                  <a:srgbClr val="FFFF00"/>
                </a:highlight>
                <a:latin typeface="Times New Roman"/>
                <a:cs typeface="Times New Roman"/>
                <a:sym typeface="Times New Roman"/>
              </a:rPr>
              <a:t>LearnMate</a:t>
            </a:r>
            <a:r>
              <a:rPr lang="en-US" sz="2400" b="1" dirty="0" smtClean="0">
                <a:solidFill>
                  <a:srgbClr val="002060"/>
                </a:solidFill>
                <a:highlight>
                  <a:srgbClr val="FFFF00"/>
                </a:highlight>
                <a:latin typeface="Times New Roman"/>
                <a:cs typeface="Times New Roman"/>
                <a:sym typeface="Times New Roman"/>
              </a:rPr>
              <a:t> Personalized Course Pathway Agent</a:t>
            </a:r>
            <a:endParaRPr lang="en-IN" sz="2400" b="1" dirty="0">
              <a:highlight>
                <a:srgbClr val="FFFF00"/>
              </a:highlight>
            </a:endParaRPr>
          </a:p>
        </p:txBody>
      </p:sp>
      <p:pic>
        <p:nvPicPr>
          <p:cNvPr id="9" name="Picture 8" descr="sara.jpg"/>
          <p:cNvPicPr>
            <a:picLocks noChangeAspect="1"/>
          </p:cNvPicPr>
          <p:nvPr/>
        </p:nvPicPr>
        <p:blipFill>
          <a:blip r:embed="rId4"/>
          <a:stretch>
            <a:fillRect/>
          </a:stretch>
        </p:blipFill>
        <p:spPr>
          <a:xfrm>
            <a:off x="4089159" y="3640347"/>
            <a:ext cx="866788" cy="1026544"/>
          </a:xfrm>
          <a:prstGeom prst="rect">
            <a:avLst/>
          </a:prstGeom>
        </p:spPr>
      </p:pic>
    </p:spTree>
    <p:extLst>
      <p:ext uri="{BB962C8B-B14F-4D97-AF65-F5344CB8AC3E}">
        <p14:creationId xmlns:p14="http://schemas.microsoft.com/office/powerpoint/2010/main" xmlns=""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377664" y="854877"/>
            <a:ext cx="10607040" cy="6124754"/>
          </a:xfrm>
          <a:prstGeom prst="rect">
            <a:avLst/>
          </a:prstGeom>
          <a:noFill/>
        </p:spPr>
        <p:txBody>
          <a:bodyPr wrap="square" rtlCol="0">
            <a:spAutoFit/>
          </a:bodyPr>
          <a:lstStyle/>
          <a:p>
            <a:pPr fontAlgn="base"/>
            <a:r>
              <a:rPr lang="en-US" b="1" dirty="0"/>
              <a:t>Problem Statement : </a:t>
            </a:r>
            <a:r>
              <a:rPr lang="en-US" b="1" dirty="0" err="1" smtClean="0"/>
              <a:t>Agentic</a:t>
            </a:r>
            <a:r>
              <a:rPr lang="en-US" b="1" dirty="0" smtClean="0"/>
              <a:t> AI for Personalized Course Pathways</a:t>
            </a:r>
            <a:endParaRPr lang="en-US" b="1" dirty="0"/>
          </a:p>
          <a:p>
            <a:pPr fontAlgn="base"/>
            <a:endParaRPr lang="en-US" b="1" dirty="0"/>
          </a:p>
          <a:p>
            <a:pPr fontAlgn="base"/>
            <a:r>
              <a:rPr lang="en-US" b="1" dirty="0"/>
              <a:t>The Challenge</a:t>
            </a:r>
            <a:r>
              <a:rPr lang="en-US" dirty="0"/>
              <a:t> </a:t>
            </a:r>
          </a:p>
          <a:p>
            <a:pPr fontAlgn="base"/>
            <a:r>
              <a:rPr lang="en-US" dirty="0" smtClean="0"/>
              <a:t>Students often struggle to identify the right learning path that aligns with their interests and long-term goals due to the overwhelming number of online courses and a lack of personalized guidance. </a:t>
            </a:r>
            <a:r>
              <a:rPr lang="en-US" dirty="0" err="1" smtClean="0"/>
              <a:t>LearnMate</a:t>
            </a:r>
            <a:r>
              <a:rPr lang="en-US" dirty="0" smtClean="0"/>
              <a:t> aims to solve this by acting as an </a:t>
            </a:r>
            <a:r>
              <a:rPr lang="en-US" dirty="0" err="1" smtClean="0"/>
              <a:t>Agentic</a:t>
            </a:r>
            <a:r>
              <a:rPr lang="en-US" dirty="0" smtClean="0"/>
              <a:t> AI coach that interacts with students, understands their interests (like Frontend Development, </a:t>
            </a:r>
            <a:r>
              <a:rPr lang="en-US" dirty="0" err="1" smtClean="0"/>
              <a:t>Cybersecurity</a:t>
            </a:r>
            <a:r>
              <a:rPr lang="en-US" dirty="0" smtClean="0"/>
              <a:t>, UI/UX Design, etc.), assesses their current skill level, and dynamically builds a personalized course roadmap that adapts over time based on progress and preferences.</a:t>
            </a:r>
          </a:p>
          <a:p>
            <a:pPr fontAlgn="base"/>
            <a:endParaRPr lang="en-US" dirty="0" smtClean="0"/>
          </a:p>
          <a:p>
            <a:r>
              <a:rPr lang="en-US" b="1" dirty="0" smtClean="0"/>
              <a:t>The Objective</a:t>
            </a:r>
            <a:endParaRPr lang="en-US" dirty="0" smtClean="0"/>
          </a:p>
          <a:p>
            <a:r>
              <a:rPr lang="en-US" dirty="0" smtClean="0"/>
              <a:t>Build an AI-powered Course Pathway Agent (</a:t>
            </a:r>
            <a:r>
              <a:rPr lang="en-US" b="1" dirty="0" err="1" smtClean="0"/>
              <a:t>LearnMate</a:t>
            </a:r>
            <a:r>
              <a:rPr lang="en-US" dirty="0" smtClean="0"/>
              <a:t>) that delivers personalized learning paths, targeted assessments, and seamless progress tracking for students and self-learners. </a:t>
            </a:r>
          </a:p>
          <a:p>
            <a:r>
              <a:rPr lang="en-US" dirty="0" smtClean="0"/>
              <a:t>The solution should:</a:t>
            </a:r>
          </a:p>
          <a:p>
            <a:endParaRPr lang="en-US" dirty="0" smtClean="0"/>
          </a:p>
          <a:p>
            <a:pPr>
              <a:buFont typeface="Arial" pitchFamily="34" charset="0"/>
              <a:buChar char="•"/>
            </a:pPr>
            <a:r>
              <a:rPr lang="en-US" b="1" dirty="0" smtClean="0"/>
              <a:t>Personalized Course Pathways –</a:t>
            </a:r>
            <a:r>
              <a:rPr lang="en-US" dirty="0" smtClean="0"/>
              <a:t> Generate tailored step-by-step learning roadmaps based on user </a:t>
            </a:r>
            <a:r>
              <a:rPr lang="en-US" dirty="0" err="1" smtClean="0"/>
              <a:t>onboarding</a:t>
            </a:r>
            <a:r>
              <a:rPr lang="en-US" dirty="0" smtClean="0"/>
              <a:t> goals and skill gaps.</a:t>
            </a:r>
          </a:p>
          <a:p>
            <a:pPr>
              <a:buFont typeface="Arial" pitchFamily="34" charset="0"/>
              <a:buChar char="•"/>
            </a:pPr>
            <a:endParaRPr lang="en-US" dirty="0" smtClean="0"/>
          </a:p>
          <a:p>
            <a:pPr>
              <a:buFont typeface="Arial" pitchFamily="34" charset="0"/>
              <a:buChar char="•"/>
            </a:pPr>
            <a:r>
              <a:rPr lang="en-US" b="1" dirty="0" smtClean="0"/>
              <a:t>Adaptive Remediation Quizzes –</a:t>
            </a:r>
            <a:r>
              <a:rPr lang="en-US" dirty="0" smtClean="0"/>
              <a:t> Create dynamic 10-question quizzes to test module comprehension and reinforce weak areas.</a:t>
            </a:r>
          </a:p>
          <a:p>
            <a:pPr>
              <a:buFont typeface="Arial" pitchFamily="34" charset="0"/>
              <a:buChar char="•"/>
            </a:pPr>
            <a:endParaRPr lang="en-US" dirty="0" smtClean="0"/>
          </a:p>
          <a:p>
            <a:pPr>
              <a:buFont typeface="Arial" pitchFamily="34" charset="0"/>
              <a:buChar char="•"/>
            </a:pPr>
            <a:r>
              <a:rPr lang="en-US" b="1" dirty="0" smtClean="0"/>
              <a:t>Progress Tracking &amp; Profile Drawer –</a:t>
            </a:r>
            <a:r>
              <a:rPr lang="en-US" dirty="0" smtClean="0"/>
              <a:t> Track completed modules dynamically in a centralized user profile checklist using </a:t>
            </a:r>
            <a:r>
              <a:rPr lang="en-US" dirty="0" err="1" smtClean="0"/>
              <a:t>SQLite</a:t>
            </a:r>
            <a:r>
              <a:rPr lang="en-US" dirty="0" smtClean="0"/>
              <a:t> persistence.</a:t>
            </a:r>
          </a:p>
          <a:p>
            <a:pPr>
              <a:buFont typeface="Arial" pitchFamily="34" charset="0"/>
              <a:buChar char="•"/>
            </a:pPr>
            <a:endParaRPr lang="en-US" dirty="0" smtClean="0"/>
          </a:p>
          <a:p>
            <a:pPr>
              <a:buFont typeface="Arial" pitchFamily="34" charset="0"/>
              <a:buChar char="•"/>
            </a:pPr>
            <a:r>
              <a:rPr lang="en-US" b="1" dirty="0" smtClean="0"/>
              <a:t>Exportable Learning Plans –</a:t>
            </a:r>
            <a:r>
              <a:rPr lang="en-US" dirty="0" smtClean="0"/>
              <a:t> Allow single-click PDF export of customized learning roadmaps for offline study and documentation.</a:t>
            </a:r>
          </a:p>
          <a:p>
            <a:pPr>
              <a:buFont typeface="Arial" pitchFamily="34" charset="0"/>
              <a:buChar char="•"/>
            </a:pPr>
            <a:endParaRPr lang="en-US" dirty="0" smtClean="0"/>
          </a:p>
          <a:p>
            <a:pPr>
              <a:buFont typeface="Arial" pitchFamily="34" charset="0"/>
              <a:buChar char="•"/>
            </a:pPr>
            <a:r>
              <a:rPr lang="en-US" b="1" dirty="0" smtClean="0"/>
              <a:t>Resilient Multi-Layer Agent –</a:t>
            </a:r>
            <a:r>
              <a:rPr lang="en-US" dirty="0" smtClean="0"/>
              <a:t> Leverage IBM Granite 3.0 API with automated local mock fallbacks to guarantee uninterrupted user experience and zero API demo errors.</a:t>
            </a:r>
          </a:p>
          <a:p>
            <a:pPr fontAlgn="base"/>
            <a:r>
              <a:rPr lang="en-US" dirty="0" smtClean="0"/>
              <a:t> </a:t>
            </a: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429423" y="238262"/>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xmlns=""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334532" y="811746"/>
            <a:ext cx="10607040" cy="6124754"/>
          </a:xfrm>
          <a:prstGeom prst="rect">
            <a:avLst/>
          </a:prstGeom>
          <a:noFill/>
        </p:spPr>
        <p:txBody>
          <a:bodyPr wrap="square" rtlCol="0">
            <a:spAutoFit/>
          </a:bodyPr>
          <a:lstStyle/>
          <a:p>
            <a:pPr fontAlgn="base"/>
            <a:endParaRPr lang="en-US" b="1" dirty="0"/>
          </a:p>
          <a:p>
            <a:r>
              <a:rPr lang="en-US" b="1" dirty="0" smtClean="0"/>
              <a:t>Proposed Solution: Course Pathway Agent (</a:t>
            </a:r>
            <a:r>
              <a:rPr lang="en-US" b="1" dirty="0" err="1" smtClean="0"/>
              <a:t>LearnMate</a:t>
            </a:r>
            <a:r>
              <a:rPr lang="en-US" b="1" dirty="0" smtClean="0"/>
              <a:t>)</a:t>
            </a:r>
            <a:endParaRPr lang="en-US" dirty="0" smtClean="0"/>
          </a:p>
          <a:p>
            <a:r>
              <a:rPr lang="en-US" b="1" dirty="0" smtClean="0"/>
              <a:t>The Innovation</a:t>
            </a:r>
            <a:endParaRPr lang="en-US" dirty="0" smtClean="0"/>
          </a:p>
          <a:p>
            <a:r>
              <a:rPr lang="en-US" b="1" dirty="0" err="1" smtClean="0"/>
              <a:t>LearnMate</a:t>
            </a:r>
            <a:r>
              <a:rPr lang="en-US" dirty="0" smtClean="0"/>
              <a:t> is an AI-driven educational platform powered by IBM Granite 3.0 that transforms static learning into an adaptive, personalized experience. By combining real-time roadmap generation with dynamic remediation quizzes and local mock fail-safes, </a:t>
            </a:r>
            <a:r>
              <a:rPr lang="en-US" dirty="0" err="1" smtClean="0"/>
              <a:t>LearnMate</a:t>
            </a:r>
            <a:r>
              <a:rPr lang="en-US" dirty="0" smtClean="0"/>
              <a:t> delivers an end-to-end </a:t>
            </a:r>
            <a:r>
              <a:rPr lang="en-US" dirty="0" err="1" smtClean="0"/>
              <a:t>agentic</a:t>
            </a:r>
            <a:r>
              <a:rPr lang="en-US" dirty="0" smtClean="0"/>
              <a:t> workflow that ensures 100% demo stability and tailored student progression.</a:t>
            </a:r>
          </a:p>
          <a:p>
            <a:endParaRPr lang="en-US" dirty="0" smtClean="0"/>
          </a:p>
          <a:p>
            <a:r>
              <a:rPr lang="en-US" b="1" dirty="0" smtClean="0"/>
              <a:t>Key Components &amp; Features</a:t>
            </a:r>
          </a:p>
          <a:p>
            <a:endParaRPr lang="en-US" dirty="0" smtClean="0"/>
          </a:p>
          <a:p>
            <a:pPr>
              <a:buFont typeface="Arial" pitchFamily="34" charset="0"/>
              <a:buChar char="•"/>
            </a:pPr>
            <a:r>
              <a:rPr lang="en-US" b="1" dirty="0" smtClean="0"/>
              <a:t>User Authentication &amp; Persistence –</a:t>
            </a:r>
            <a:r>
              <a:rPr lang="en-US" dirty="0" smtClean="0"/>
              <a:t> Secure JWT-based Login and Registration system backed by </a:t>
            </a:r>
            <a:r>
              <a:rPr lang="en-US" dirty="0" err="1" smtClean="0"/>
              <a:t>SQLite</a:t>
            </a:r>
            <a:r>
              <a:rPr lang="en-US" dirty="0" smtClean="0"/>
              <a:t> database for seamless progress retention across sessions.</a:t>
            </a:r>
          </a:p>
          <a:p>
            <a:pPr>
              <a:buFont typeface="Arial" pitchFamily="34" charset="0"/>
              <a:buChar char="•"/>
            </a:pPr>
            <a:endParaRPr lang="en-US" dirty="0" smtClean="0"/>
          </a:p>
          <a:p>
            <a:pPr>
              <a:buFont typeface="Arial" pitchFamily="34" charset="0"/>
              <a:buChar char="•"/>
            </a:pPr>
            <a:r>
              <a:rPr lang="en-US" b="1" dirty="0" smtClean="0"/>
              <a:t>Granite-Powered Roadmap Generation –</a:t>
            </a:r>
            <a:r>
              <a:rPr lang="en-US" dirty="0" smtClean="0"/>
              <a:t> Leverages IBM Granite 3.0 via IBM watsonx.ai to generate structured, step-by-step learning pathways tailored to individual student goals.</a:t>
            </a:r>
          </a:p>
          <a:p>
            <a:pPr>
              <a:buFont typeface="Arial" pitchFamily="34" charset="0"/>
              <a:buChar char="•"/>
            </a:pPr>
            <a:endParaRPr lang="en-US" dirty="0" smtClean="0"/>
          </a:p>
          <a:p>
            <a:pPr>
              <a:buFont typeface="Arial" pitchFamily="34" charset="0"/>
              <a:buChar char="•"/>
            </a:pPr>
            <a:r>
              <a:rPr lang="en-US" b="1" dirty="0" smtClean="0"/>
              <a:t>Adaptive 10-Question Remediation Quizzes –</a:t>
            </a:r>
            <a:r>
              <a:rPr lang="en-US" dirty="0" smtClean="0"/>
              <a:t> Automatically generates targeted quizzes for each module to evaluate comprehension, identify knowledge gaps, and reinforce learning.</a:t>
            </a:r>
          </a:p>
          <a:p>
            <a:pPr>
              <a:buFont typeface="Arial" pitchFamily="34" charset="0"/>
              <a:buChar char="•"/>
            </a:pPr>
            <a:endParaRPr lang="en-US" dirty="0" smtClean="0"/>
          </a:p>
          <a:p>
            <a:pPr>
              <a:buFont typeface="Arial" pitchFamily="34" charset="0"/>
              <a:buChar char="•"/>
            </a:pPr>
            <a:r>
              <a:rPr lang="en-US" b="1" dirty="0" smtClean="0"/>
              <a:t>Centralized Profile &amp; Progress Tracking –</a:t>
            </a:r>
            <a:r>
              <a:rPr lang="en-US" dirty="0" smtClean="0"/>
              <a:t> Top-right Profile Drawer providing an interactive checklist of completed modules to visualize learner advancement in real time.</a:t>
            </a:r>
          </a:p>
          <a:p>
            <a:pPr>
              <a:buFont typeface="Arial" pitchFamily="34" charset="0"/>
              <a:buChar char="•"/>
            </a:pPr>
            <a:endParaRPr lang="en-US" dirty="0" smtClean="0"/>
          </a:p>
          <a:p>
            <a:pPr>
              <a:buFont typeface="Arial" pitchFamily="34" charset="0"/>
              <a:buChar char="•"/>
            </a:pPr>
            <a:r>
              <a:rPr lang="en-US" b="1" dirty="0" smtClean="0"/>
              <a:t>Exportable PDF Roadmaps –</a:t>
            </a:r>
            <a:r>
              <a:rPr lang="en-US" dirty="0" smtClean="0"/>
              <a:t> Direct single-click PDF export functionality that packages customized study paths for offline access and documentation.</a:t>
            </a:r>
          </a:p>
          <a:p>
            <a:pPr>
              <a:buFont typeface="Arial" pitchFamily="34" charset="0"/>
              <a:buChar char="•"/>
            </a:pPr>
            <a:endParaRPr lang="en-US" dirty="0" smtClean="0"/>
          </a:p>
          <a:p>
            <a:pPr>
              <a:buFont typeface="Arial" pitchFamily="34" charset="0"/>
              <a:buChar char="•"/>
            </a:pPr>
            <a:r>
              <a:rPr lang="en-US" b="1" dirty="0" smtClean="0"/>
              <a:t>Resilient API Fail-Safe Layer –</a:t>
            </a:r>
            <a:r>
              <a:rPr lang="en-US" dirty="0" smtClean="0"/>
              <a:t> Defensive backend implementation with try...catch error handling that automatically serves mock fallback data during rate limits (HTTP 429) or network errors.</a:t>
            </a:r>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41566" y="307273"/>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xmlns=""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5693866"/>
          </a:xfrm>
          <a:prstGeom prst="rect">
            <a:avLst/>
          </a:prstGeom>
          <a:noFill/>
        </p:spPr>
        <p:txBody>
          <a:bodyPr wrap="square" rtlCol="0">
            <a:spAutoFit/>
          </a:bodyPr>
          <a:lstStyle/>
          <a:p>
            <a:endParaRPr lang="en-US" sz="2000" dirty="0" smtClean="0"/>
          </a:p>
          <a:p>
            <a:pPr>
              <a:buFont typeface="Arial" pitchFamily="34" charset="0"/>
              <a:buChar char="•"/>
            </a:pPr>
            <a:r>
              <a:rPr lang="en-US" sz="2000" b="1" dirty="0" smtClean="0"/>
              <a:t>IBM Bob platform –</a:t>
            </a:r>
            <a:r>
              <a:rPr lang="en-US" sz="2000" dirty="0" smtClean="0"/>
              <a:t> For </a:t>
            </a:r>
            <a:r>
              <a:rPr lang="en-US" sz="2000" dirty="0" err="1" smtClean="0"/>
              <a:t>agentic</a:t>
            </a:r>
            <a:r>
              <a:rPr lang="en-US" sz="2000" dirty="0" smtClean="0"/>
              <a:t> workflow orchestration, rapid prototyping, and automated code generation.</a:t>
            </a:r>
          </a:p>
          <a:p>
            <a:pPr>
              <a:buFont typeface="Arial" pitchFamily="34" charset="0"/>
              <a:buChar char="•"/>
            </a:pPr>
            <a:endParaRPr lang="en-US" sz="2000" dirty="0" smtClean="0"/>
          </a:p>
          <a:p>
            <a:pPr>
              <a:buFont typeface="Arial" pitchFamily="34" charset="0"/>
              <a:buChar char="•"/>
            </a:pPr>
            <a:endParaRPr lang="en-US" sz="2000" dirty="0" smtClean="0"/>
          </a:p>
          <a:p>
            <a:pPr>
              <a:buFont typeface="Arial" pitchFamily="34" charset="0"/>
              <a:buChar char="•"/>
            </a:pPr>
            <a:r>
              <a:rPr lang="en-US" sz="2000" b="1" dirty="0" smtClean="0"/>
              <a:t>IBM Granite model (granite-4-h-small) –</a:t>
            </a:r>
            <a:r>
              <a:rPr lang="en-US" sz="2000" dirty="0" smtClean="0"/>
              <a:t> For natural language understanding, personalized roadmap reasoning, and 10-question quiz generation.</a:t>
            </a:r>
          </a:p>
          <a:p>
            <a:pPr>
              <a:buFont typeface="Arial" pitchFamily="34" charset="0"/>
              <a:buChar char="•"/>
            </a:pPr>
            <a:endParaRPr lang="en-US" sz="2000" dirty="0" smtClean="0"/>
          </a:p>
          <a:p>
            <a:pPr>
              <a:buFont typeface="Arial" pitchFamily="34" charset="0"/>
              <a:buChar char="•"/>
            </a:pPr>
            <a:endParaRPr lang="en-US" sz="2000" dirty="0" smtClean="0"/>
          </a:p>
          <a:p>
            <a:pPr>
              <a:buFont typeface="Arial" pitchFamily="34" charset="0"/>
              <a:buChar char="•"/>
            </a:pPr>
            <a:r>
              <a:rPr lang="en-US" sz="2000" b="1" dirty="0" smtClean="0"/>
              <a:t>IBM watsonx.ai –</a:t>
            </a:r>
            <a:r>
              <a:rPr lang="en-US" sz="2000" dirty="0" smtClean="0"/>
              <a:t> For foundation model inference, deployment management, and monitoring token usage efficiency.</a:t>
            </a:r>
          </a:p>
          <a:p>
            <a:pPr>
              <a:buFont typeface="Arial" pitchFamily="34" charset="0"/>
              <a:buChar char="•"/>
            </a:pPr>
            <a:endParaRPr lang="en-US" sz="2000" dirty="0" smtClean="0"/>
          </a:p>
          <a:p>
            <a:pPr>
              <a:buFont typeface="Arial" pitchFamily="34" charset="0"/>
              <a:buChar char="•"/>
            </a:pPr>
            <a:endParaRPr lang="en-US" sz="2000" dirty="0" smtClean="0"/>
          </a:p>
          <a:p>
            <a:pPr>
              <a:buFont typeface="Arial" pitchFamily="34" charset="0"/>
              <a:buChar char="•"/>
            </a:pPr>
            <a:r>
              <a:rPr lang="en-US" sz="2000" b="1" dirty="0" err="1" smtClean="0"/>
              <a:t>SQLite</a:t>
            </a:r>
            <a:r>
              <a:rPr lang="en-US" sz="2000" b="1" dirty="0" smtClean="0"/>
              <a:t> Database –</a:t>
            </a:r>
            <a:r>
              <a:rPr lang="en-US" sz="2000" dirty="0" smtClean="0"/>
              <a:t> Lightweight, persistent storage for user authentication (JWT) and interactive module completion tracking.</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xmlns=""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28964" y="167964"/>
            <a:ext cx="11289225"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3600" b="1" dirty="0" smtClean="0">
                <a:sym typeface="Times New Roman"/>
              </a:rPr>
              <a:t>Required Files created using IBM bob -</a:t>
            </a:r>
            <a:endParaRPr lang="en-US" sz="3600" b="1" dirty="0">
              <a:sym typeface="Times New Roman"/>
            </a:endParaRPr>
          </a:p>
        </p:txBody>
      </p:sp>
      <p:pic>
        <p:nvPicPr>
          <p:cNvPr id="25602" name="Picture 2" descr="C:\Users\Admin\Pictures\ss2.jpg"/>
          <p:cNvPicPr>
            <a:picLocks noChangeAspect="1" noChangeArrowheads="1"/>
          </p:cNvPicPr>
          <p:nvPr/>
        </p:nvPicPr>
        <p:blipFill>
          <a:blip r:embed="rId3"/>
          <a:srcRect/>
          <a:stretch>
            <a:fillRect/>
          </a:stretch>
        </p:blipFill>
        <p:spPr bwMode="auto">
          <a:xfrm>
            <a:off x="826641" y="819175"/>
            <a:ext cx="10456709" cy="5684300"/>
          </a:xfrm>
          <a:prstGeom prst="rect">
            <a:avLst/>
          </a:prstGeom>
          <a:noFill/>
        </p:spPr>
      </p:pic>
    </p:spTree>
    <p:extLst>
      <p:ext uri="{BB962C8B-B14F-4D97-AF65-F5344CB8AC3E}">
        <p14:creationId xmlns:p14="http://schemas.microsoft.com/office/powerpoint/2010/main" xmlns="" val="1316545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Admin\Pictures\ss3.jpg"/>
          <p:cNvPicPr>
            <a:picLocks noChangeAspect="1" noChangeArrowheads="1"/>
          </p:cNvPicPr>
          <p:nvPr/>
        </p:nvPicPr>
        <p:blipFill>
          <a:blip r:embed="rId2"/>
          <a:srcRect/>
          <a:stretch>
            <a:fillRect/>
          </a:stretch>
        </p:blipFill>
        <p:spPr bwMode="auto">
          <a:xfrm>
            <a:off x="677505" y="438623"/>
            <a:ext cx="10700737" cy="5793677"/>
          </a:xfrm>
          <a:prstGeom prst="rect">
            <a:avLst/>
          </a:prstGeom>
          <a:noFill/>
        </p:spPr>
      </p:pic>
    </p:spTree>
    <p:extLst>
      <p:ext uri="{BB962C8B-B14F-4D97-AF65-F5344CB8AC3E}">
        <p14:creationId xmlns:p14="http://schemas.microsoft.com/office/powerpoint/2010/main" xmlns="" val="232371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descr="C:\Users\Admin\Pictures\ss7.jpg"/>
          <p:cNvPicPr>
            <a:picLocks noChangeAspect="1" noChangeArrowheads="1"/>
          </p:cNvPicPr>
          <p:nvPr/>
        </p:nvPicPr>
        <p:blipFill>
          <a:blip r:embed="rId2"/>
          <a:srcRect/>
          <a:stretch>
            <a:fillRect/>
          </a:stretch>
        </p:blipFill>
        <p:spPr bwMode="auto">
          <a:xfrm>
            <a:off x="444094" y="345258"/>
            <a:ext cx="11098049" cy="6017224"/>
          </a:xfrm>
          <a:prstGeom prst="rect">
            <a:avLst/>
          </a:prstGeom>
          <a:noFill/>
        </p:spPr>
      </p:pic>
    </p:spTree>
    <p:extLst>
      <p:ext uri="{BB962C8B-B14F-4D97-AF65-F5344CB8AC3E}">
        <p14:creationId xmlns:p14="http://schemas.microsoft.com/office/powerpoint/2010/main" xmlns=""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descr="C:\Users\Admin\Pictures\ss9.jpg"/>
          <p:cNvPicPr>
            <a:picLocks noChangeAspect="1" noChangeArrowheads="1"/>
          </p:cNvPicPr>
          <p:nvPr/>
        </p:nvPicPr>
        <p:blipFill>
          <a:blip r:embed="rId2"/>
          <a:srcRect/>
          <a:stretch>
            <a:fillRect/>
          </a:stretch>
        </p:blipFill>
        <p:spPr bwMode="auto">
          <a:xfrm>
            <a:off x="391506" y="162248"/>
            <a:ext cx="11250931" cy="6109156"/>
          </a:xfrm>
          <a:prstGeom prst="rect">
            <a:avLst/>
          </a:prstGeom>
          <a:noFill/>
        </p:spPr>
      </p:pic>
    </p:spTree>
    <p:extLst>
      <p:ext uri="{BB962C8B-B14F-4D97-AF65-F5344CB8AC3E}">
        <p14:creationId xmlns:p14="http://schemas.microsoft.com/office/powerpoint/2010/main" xmlns="" val="232371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C:\Users\Admin\Pictures\ss10.jpg"/>
          <p:cNvPicPr>
            <a:picLocks noChangeAspect="1" noChangeArrowheads="1"/>
          </p:cNvPicPr>
          <p:nvPr/>
        </p:nvPicPr>
        <p:blipFill>
          <a:blip r:embed="rId2"/>
          <a:srcRect/>
          <a:stretch>
            <a:fillRect/>
          </a:stretch>
        </p:blipFill>
        <p:spPr bwMode="auto">
          <a:xfrm>
            <a:off x="243444" y="193430"/>
            <a:ext cx="11479854" cy="6242171"/>
          </a:xfrm>
          <a:prstGeom prst="rect">
            <a:avLst/>
          </a:prstGeom>
          <a:noFill/>
        </p:spPr>
      </p:pic>
    </p:spTree>
    <p:extLst>
      <p:ext uri="{BB962C8B-B14F-4D97-AF65-F5344CB8AC3E}">
        <p14:creationId xmlns:p14="http://schemas.microsoft.com/office/powerpoint/2010/main" xmlns="" val="232371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descr="C:\Users\Admin\Pictures\ss14.jpg"/>
          <p:cNvPicPr>
            <a:picLocks noChangeAspect="1" noChangeArrowheads="1"/>
          </p:cNvPicPr>
          <p:nvPr/>
        </p:nvPicPr>
        <p:blipFill>
          <a:blip r:embed="rId2"/>
          <a:srcRect/>
          <a:stretch>
            <a:fillRect/>
          </a:stretch>
        </p:blipFill>
        <p:spPr bwMode="auto">
          <a:xfrm>
            <a:off x="619277" y="213505"/>
            <a:ext cx="11226458" cy="6075152"/>
          </a:xfrm>
          <a:prstGeom prst="rect">
            <a:avLst/>
          </a:prstGeom>
          <a:noFill/>
        </p:spPr>
      </p:pic>
    </p:spTree>
    <p:extLst>
      <p:ext uri="{BB962C8B-B14F-4D97-AF65-F5344CB8AC3E}">
        <p14:creationId xmlns:p14="http://schemas.microsoft.com/office/powerpoint/2010/main" xmlns="" val="232371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Admin\Pictures\ss15.jpg"/>
          <p:cNvPicPr>
            <a:picLocks noChangeAspect="1" noChangeArrowheads="1"/>
          </p:cNvPicPr>
          <p:nvPr/>
        </p:nvPicPr>
        <p:blipFill>
          <a:blip r:embed="rId2"/>
          <a:srcRect/>
          <a:stretch>
            <a:fillRect/>
          </a:stretch>
        </p:blipFill>
        <p:spPr bwMode="auto">
          <a:xfrm>
            <a:off x="348316" y="250167"/>
            <a:ext cx="11525353" cy="6236897"/>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1026" name="Picture 2"/>
          <p:cNvPicPr>
            <a:picLocks noChangeAspect="1" noChangeArrowheads="1"/>
          </p:cNvPicPr>
          <p:nvPr/>
        </p:nvPicPr>
        <p:blipFill>
          <a:blip r:embed="rId3"/>
          <a:srcRect/>
          <a:stretch>
            <a:fillRect/>
          </a:stretch>
        </p:blipFill>
        <p:spPr bwMode="auto">
          <a:xfrm>
            <a:off x="1751162" y="713567"/>
            <a:ext cx="8097502" cy="5920147"/>
          </a:xfrm>
          <a:prstGeom prst="rect">
            <a:avLst/>
          </a:prstGeom>
          <a:noFill/>
          <a:ln w="9525">
            <a:noFill/>
            <a:miter lim="800000"/>
            <a:headEnd/>
            <a:tailEnd/>
          </a:ln>
          <a:effectLst/>
        </p:spPr>
      </p:pic>
    </p:spTree>
    <p:extLst>
      <p:ext uri="{BB962C8B-B14F-4D97-AF65-F5344CB8AC3E}">
        <p14:creationId xmlns:p14="http://schemas.microsoft.com/office/powerpoint/2010/main" xmlns="" val="445195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23220"/>
          </a:xfrm>
          <a:prstGeom prst="rect">
            <a:avLst/>
          </a:prstGeom>
          <a:noFill/>
        </p:spPr>
        <p:txBody>
          <a:bodyPr wrap="square" rtlCol="0">
            <a:spAutoFit/>
          </a:bodyPr>
          <a:lstStyle/>
          <a:p>
            <a:r>
              <a:rPr lang="en-US" sz="2800" b="1" dirty="0"/>
              <a:t>Role of </a:t>
            </a:r>
            <a:r>
              <a:rPr lang="en-US" sz="2800" b="1" dirty="0" err="1"/>
              <a:t>Agentic</a:t>
            </a:r>
            <a:r>
              <a:rPr lang="en-US" sz="2800" b="1" dirty="0"/>
              <a:t> AI in the solution </a:t>
            </a:r>
            <a:endParaRPr lang="en-IN" sz="2800" b="1"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621793" y="1167491"/>
            <a:ext cx="6737370" cy="5016758"/>
          </a:xfrm>
          <a:prstGeom prst="rect">
            <a:avLst/>
          </a:prstGeom>
          <a:noFill/>
        </p:spPr>
        <p:txBody>
          <a:bodyPr wrap="square" rtlCol="0">
            <a:spAutoFit/>
          </a:bodyPr>
          <a:lstStyle/>
          <a:p>
            <a:r>
              <a:rPr lang="en-US" sz="1600" b="1" dirty="0" err="1" smtClean="0"/>
              <a:t>Agentic</a:t>
            </a:r>
            <a:r>
              <a:rPr lang="en-US" sz="1600" b="1" dirty="0" smtClean="0"/>
              <a:t> AI</a:t>
            </a:r>
            <a:r>
              <a:rPr lang="en-US" sz="1600" dirty="0" smtClean="0"/>
              <a:t> enables </a:t>
            </a:r>
            <a:r>
              <a:rPr lang="en-US" sz="1600" dirty="0" err="1" smtClean="0"/>
              <a:t>LearnMate</a:t>
            </a:r>
            <a:r>
              <a:rPr lang="en-US" sz="1600" dirty="0" smtClean="0"/>
              <a:t> to function as an intelligent, autonomous learning coach rather than a static curriculum aggregator. Powered by </a:t>
            </a:r>
            <a:r>
              <a:rPr lang="en-US" sz="1600" b="1" dirty="0" smtClean="0"/>
              <a:t>IBM watsonx.ai</a:t>
            </a:r>
            <a:r>
              <a:rPr lang="en-US" sz="1600" dirty="0" smtClean="0"/>
              <a:t> and </a:t>
            </a:r>
            <a:r>
              <a:rPr lang="en-US" sz="1600" b="1" dirty="0" smtClean="0"/>
              <a:t>IBM Granite 4-h-small</a:t>
            </a:r>
            <a:r>
              <a:rPr lang="en-US" sz="1600" dirty="0" smtClean="0"/>
              <a:t> models, it coordinates specialized reasoning workflows to construct highly customized course pathways.</a:t>
            </a:r>
          </a:p>
          <a:p>
            <a:endParaRPr lang="en-US" sz="1600" dirty="0" smtClean="0"/>
          </a:p>
          <a:p>
            <a:r>
              <a:rPr lang="en-US" sz="1600" dirty="0" smtClean="0"/>
              <a:t>Each component performs a dedicated role, analyzing target domains, evaluating skill levels, structuring prerequisite sequences, generating interactive quizzes, and managing backend fallback mechanisms, while working collaboratively to ensure seamless delivery.</a:t>
            </a:r>
          </a:p>
          <a:p>
            <a:endParaRPr lang="en-US" sz="1600" dirty="0" smtClean="0"/>
          </a:p>
          <a:p>
            <a:r>
              <a:rPr lang="en-US" sz="1600" dirty="0" err="1" smtClean="0"/>
              <a:t>Agentic</a:t>
            </a:r>
            <a:r>
              <a:rPr lang="en-US" sz="1600" dirty="0" smtClean="0"/>
              <a:t> AI also brings </a:t>
            </a:r>
            <a:r>
              <a:rPr lang="en-US" sz="1600" b="1" dirty="0" smtClean="0"/>
              <a:t>context awareness</a:t>
            </a:r>
            <a:r>
              <a:rPr lang="en-US" sz="1600" dirty="0" smtClean="0"/>
              <a:t>, understanding user inputs such as domain preferences, experience levels, and weekly time commitments to generate tailored study timelines. It supports dynamic adaptation, structuring knowledge checkpoints and module evaluations based on learner interaction.</a:t>
            </a:r>
          </a:p>
          <a:p>
            <a:endParaRPr lang="en-US" sz="1600" dirty="0" smtClean="0"/>
          </a:p>
          <a:p>
            <a:r>
              <a:rPr lang="en-US" sz="1600" dirty="0" smtClean="0"/>
              <a:t>Overall, </a:t>
            </a:r>
            <a:r>
              <a:rPr lang="en-US" sz="1600" dirty="0" err="1" smtClean="0"/>
              <a:t>Agentic</a:t>
            </a:r>
            <a:r>
              <a:rPr lang="en-US" sz="1600" dirty="0" smtClean="0"/>
              <a:t> AI makes the system </a:t>
            </a:r>
            <a:r>
              <a:rPr lang="en-US" sz="1600" b="1" dirty="0" smtClean="0"/>
              <a:t>proactive, adaptive, and goal-driven</a:t>
            </a:r>
            <a:r>
              <a:rPr lang="en-US" sz="1600" dirty="0" smtClean="0"/>
              <a:t>, acting like a smart digital mentor that guides students toward structured career outcomes.</a:t>
            </a:r>
            <a:endParaRPr lang="en-US" sz="1600" dirty="0"/>
          </a:p>
        </p:txBody>
      </p:sp>
    </p:spTree>
    <p:extLst>
      <p:ext uri="{BB962C8B-B14F-4D97-AF65-F5344CB8AC3E}">
        <p14:creationId xmlns:p14="http://schemas.microsoft.com/office/powerpoint/2010/main" xmlns="" val="4000696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ChangeAspect="1" noChangeArrowheads="1"/>
          </p:cNvPicPr>
          <p:nvPr/>
        </p:nvPicPr>
        <p:blipFill>
          <a:blip r:embed="rId2"/>
          <a:srcRect/>
          <a:stretch>
            <a:fillRect/>
          </a:stretch>
        </p:blipFill>
        <p:spPr bwMode="auto">
          <a:xfrm>
            <a:off x="153909" y="2391308"/>
            <a:ext cx="5694421" cy="2823488"/>
          </a:xfrm>
          <a:prstGeom prst="rect">
            <a:avLst/>
          </a:prstGeom>
          <a:noFill/>
          <a:ln w="9525">
            <a:noFill/>
            <a:miter lim="800000"/>
            <a:headEnd/>
            <a:tailEnd/>
          </a:ln>
          <a:effectLst/>
        </p:spPr>
      </p:pic>
      <p:pic>
        <p:nvPicPr>
          <p:cNvPr id="3" name="Picture 2"/>
          <p:cNvPicPr>
            <a:picLocks noChangeAspect="1" noChangeArrowheads="1"/>
          </p:cNvPicPr>
          <p:nvPr/>
        </p:nvPicPr>
        <p:blipFill>
          <a:blip r:embed="rId3"/>
          <a:srcRect/>
          <a:stretch>
            <a:fillRect/>
          </a:stretch>
        </p:blipFill>
        <p:spPr bwMode="auto">
          <a:xfrm>
            <a:off x="6056769" y="2357816"/>
            <a:ext cx="5930020" cy="2943393"/>
          </a:xfrm>
          <a:prstGeom prst="rect">
            <a:avLst/>
          </a:prstGeom>
          <a:noFill/>
          <a:ln w="9525">
            <a:noFill/>
            <a:miter lim="800000"/>
            <a:headEnd/>
            <a:tailEnd/>
          </a:ln>
          <a:effectLst/>
        </p:spPr>
      </p:pic>
      <p:sp>
        <p:nvSpPr>
          <p:cNvPr id="5" name="TextBox 4"/>
          <p:cNvSpPr txBox="1"/>
          <p:nvPr/>
        </p:nvSpPr>
        <p:spPr>
          <a:xfrm>
            <a:off x="527539" y="158261"/>
            <a:ext cx="5952392" cy="738664"/>
          </a:xfrm>
          <a:prstGeom prst="rect">
            <a:avLst/>
          </a:prstGeom>
          <a:noFill/>
        </p:spPr>
        <p:txBody>
          <a:bodyPr wrap="square" rtlCol="0">
            <a:spAutoFit/>
          </a:bodyPr>
          <a:lstStyle/>
          <a:p>
            <a:r>
              <a:rPr lang="en-US" sz="2800" b="1" dirty="0" smtClean="0">
                <a:sym typeface="Times New Roman"/>
              </a:rPr>
              <a:t>Token Usage </a:t>
            </a:r>
          </a:p>
          <a:p>
            <a:endParaRPr lang="en-US" dirty="0"/>
          </a:p>
        </p:txBody>
      </p:sp>
      <p:sp>
        <p:nvSpPr>
          <p:cNvPr id="6" name="TextBox 5"/>
          <p:cNvSpPr txBox="1"/>
          <p:nvPr/>
        </p:nvSpPr>
        <p:spPr>
          <a:xfrm>
            <a:off x="870438" y="1705708"/>
            <a:ext cx="2514600" cy="400110"/>
          </a:xfrm>
          <a:prstGeom prst="rect">
            <a:avLst/>
          </a:prstGeom>
          <a:noFill/>
        </p:spPr>
        <p:txBody>
          <a:bodyPr wrap="square" rtlCol="0">
            <a:spAutoFit/>
          </a:bodyPr>
          <a:lstStyle/>
          <a:p>
            <a:r>
              <a:rPr lang="en-US" sz="2000" dirty="0" smtClean="0"/>
              <a:t>Before Prompt </a:t>
            </a:r>
            <a:endParaRPr lang="en-US" sz="2000" dirty="0"/>
          </a:p>
        </p:txBody>
      </p:sp>
      <p:sp>
        <p:nvSpPr>
          <p:cNvPr id="7" name="TextBox 6"/>
          <p:cNvSpPr txBox="1"/>
          <p:nvPr/>
        </p:nvSpPr>
        <p:spPr>
          <a:xfrm>
            <a:off x="7186246" y="1682262"/>
            <a:ext cx="2514600" cy="400110"/>
          </a:xfrm>
          <a:prstGeom prst="rect">
            <a:avLst/>
          </a:prstGeom>
          <a:noFill/>
        </p:spPr>
        <p:txBody>
          <a:bodyPr wrap="square" rtlCol="0">
            <a:spAutoFit/>
          </a:bodyPr>
          <a:lstStyle/>
          <a:p>
            <a:r>
              <a:rPr lang="en-US" sz="2000" dirty="0" smtClean="0"/>
              <a:t>After Prompt </a:t>
            </a:r>
            <a:endParaRPr lang="en-US" sz="2000" dirty="0"/>
          </a:p>
        </p:txBody>
      </p:sp>
      <p:sp>
        <p:nvSpPr>
          <p:cNvPr id="8" name="TextBox 7"/>
          <p:cNvSpPr txBox="1"/>
          <p:nvPr/>
        </p:nvSpPr>
        <p:spPr>
          <a:xfrm>
            <a:off x="791307" y="1072661"/>
            <a:ext cx="4114799" cy="400110"/>
          </a:xfrm>
          <a:prstGeom prst="rect">
            <a:avLst/>
          </a:prstGeom>
          <a:noFill/>
        </p:spPr>
        <p:txBody>
          <a:bodyPr wrap="square" rtlCol="0">
            <a:spAutoFit/>
          </a:bodyPr>
          <a:lstStyle/>
          <a:p>
            <a:r>
              <a:rPr lang="en-US" sz="2000" dirty="0" smtClean="0"/>
              <a:t>Tokens Used: </a:t>
            </a:r>
            <a:r>
              <a:rPr lang="en-US" sz="2000" b="1" dirty="0" smtClean="0"/>
              <a:t>2,570</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7804" y="172528"/>
            <a:ext cx="6745856" cy="523220"/>
          </a:xfrm>
          <a:prstGeom prst="rect">
            <a:avLst/>
          </a:prstGeom>
          <a:noFill/>
        </p:spPr>
        <p:txBody>
          <a:bodyPr wrap="square" rtlCol="0">
            <a:spAutoFit/>
          </a:bodyPr>
          <a:lstStyle/>
          <a:p>
            <a:r>
              <a:rPr lang="en-US" sz="2800" b="1" dirty="0" smtClean="0"/>
              <a:t>Project Output Screenshot</a:t>
            </a:r>
            <a:endParaRPr lang="en-US" sz="2800" b="1" dirty="0"/>
          </a:p>
        </p:txBody>
      </p:sp>
      <p:pic>
        <p:nvPicPr>
          <p:cNvPr id="56322" name="Picture 2"/>
          <p:cNvPicPr>
            <a:picLocks noChangeAspect="1" noChangeArrowheads="1"/>
          </p:cNvPicPr>
          <p:nvPr/>
        </p:nvPicPr>
        <p:blipFill>
          <a:blip r:embed="rId2"/>
          <a:srcRect/>
          <a:stretch>
            <a:fillRect/>
          </a:stretch>
        </p:blipFill>
        <p:spPr bwMode="auto">
          <a:xfrm>
            <a:off x="729187" y="920252"/>
            <a:ext cx="10392073" cy="5152744"/>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5" name="Picture 1"/>
          <p:cNvPicPr>
            <a:picLocks noChangeAspect="1" noChangeArrowheads="1"/>
          </p:cNvPicPr>
          <p:nvPr/>
        </p:nvPicPr>
        <p:blipFill>
          <a:blip r:embed="rId2"/>
          <a:srcRect/>
          <a:stretch>
            <a:fillRect/>
          </a:stretch>
        </p:blipFill>
        <p:spPr bwMode="auto">
          <a:xfrm>
            <a:off x="776377" y="512219"/>
            <a:ext cx="10345106" cy="5129456"/>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1"/>
          <p:cNvPicPr>
            <a:picLocks noChangeAspect="1" noChangeArrowheads="1"/>
          </p:cNvPicPr>
          <p:nvPr/>
        </p:nvPicPr>
        <p:blipFill>
          <a:blip r:embed="rId2"/>
          <a:srcRect/>
          <a:stretch>
            <a:fillRect/>
          </a:stretch>
        </p:blipFill>
        <p:spPr bwMode="auto">
          <a:xfrm>
            <a:off x="455491" y="489153"/>
            <a:ext cx="11058698" cy="5488954"/>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ChangeAspect="1" noChangeArrowheads="1"/>
          </p:cNvPicPr>
          <p:nvPr/>
        </p:nvPicPr>
        <p:blipFill>
          <a:blip r:embed="rId2"/>
          <a:srcRect/>
          <a:stretch>
            <a:fillRect/>
          </a:stretch>
        </p:blipFill>
        <p:spPr bwMode="auto">
          <a:xfrm>
            <a:off x="511174" y="355508"/>
            <a:ext cx="11003403" cy="5467322"/>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ChangeAspect="1" noChangeArrowheads="1"/>
          </p:cNvPicPr>
          <p:nvPr/>
        </p:nvPicPr>
        <p:blipFill>
          <a:blip r:embed="rId2"/>
          <a:srcRect/>
          <a:stretch>
            <a:fillRect/>
          </a:stretch>
        </p:blipFill>
        <p:spPr bwMode="auto">
          <a:xfrm>
            <a:off x="428529" y="492368"/>
            <a:ext cx="11202336" cy="5572001"/>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p:cNvPicPr>
            <a:picLocks noChangeAspect="1" noChangeArrowheads="1"/>
          </p:cNvPicPr>
          <p:nvPr/>
        </p:nvPicPr>
        <p:blipFill>
          <a:blip r:embed="rId2"/>
          <a:srcRect/>
          <a:stretch>
            <a:fillRect/>
          </a:stretch>
        </p:blipFill>
        <p:spPr bwMode="auto">
          <a:xfrm>
            <a:off x="733244" y="324486"/>
            <a:ext cx="11036910" cy="5489718"/>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ChangeAspect="1" noChangeArrowheads="1"/>
          </p:cNvPicPr>
          <p:nvPr/>
        </p:nvPicPr>
        <p:blipFill>
          <a:blip r:embed="rId2"/>
          <a:srcRect/>
          <a:stretch>
            <a:fillRect/>
          </a:stretch>
        </p:blipFill>
        <p:spPr bwMode="auto">
          <a:xfrm>
            <a:off x="1025866" y="590074"/>
            <a:ext cx="10752822" cy="5362317"/>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p:cNvPicPr>
            <a:picLocks noChangeAspect="1" noChangeArrowheads="1"/>
          </p:cNvPicPr>
          <p:nvPr/>
        </p:nvPicPr>
        <p:blipFill>
          <a:blip r:embed="rId2"/>
          <a:srcRect/>
          <a:stretch>
            <a:fillRect/>
          </a:stretch>
        </p:blipFill>
        <p:spPr bwMode="auto">
          <a:xfrm>
            <a:off x="444403" y="509019"/>
            <a:ext cx="10778252" cy="535545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575017" y="229655"/>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311247" y="987198"/>
            <a:ext cx="11301984" cy="5324535"/>
          </a:xfrm>
          <a:prstGeom prst="rect">
            <a:avLst/>
          </a:prstGeom>
          <a:noFill/>
        </p:spPr>
        <p:txBody>
          <a:bodyPr wrap="square" rtlCol="0">
            <a:spAutoFit/>
          </a:bodyPr>
          <a:lstStyle/>
          <a:p>
            <a:r>
              <a:rPr lang="en-US" sz="2000" dirty="0" smtClean="0"/>
              <a:t>The proposed </a:t>
            </a:r>
            <a:r>
              <a:rPr lang="en-US" sz="2000" b="1" dirty="0" err="1" smtClean="0"/>
              <a:t>LearnMate</a:t>
            </a:r>
            <a:r>
              <a:rPr lang="en-US" sz="2000" dirty="0" smtClean="0"/>
              <a:t> stands out by combining </a:t>
            </a:r>
            <a:r>
              <a:rPr lang="en-US" sz="2000" b="1" dirty="0" err="1" smtClean="0"/>
              <a:t>Agentic</a:t>
            </a:r>
            <a:r>
              <a:rPr lang="en-US" sz="2000" b="1" dirty="0" smtClean="0"/>
              <a:t> AI, dynamic assessment, and deep personalization</a:t>
            </a:r>
            <a:r>
              <a:rPr lang="en-US" sz="2000" dirty="0" smtClean="0"/>
              <a:t> into a single intelligent system.</a:t>
            </a:r>
          </a:p>
          <a:p>
            <a:endParaRPr lang="en-US" sz="2000" dirty="0" smtClean="0"/>
          </a:p>
          <a:p>
            <a:r>
              <a:rPr lang="en-US" sz="2000" b="1" dirty="0" err="1" smtClean="0"/>
              <a:t>Agentic</a:t>
            </a:r>
            <a:r>
              <a:rPr lang="en-US" sz="2000" b="1" dirty="0" smtClean="0"/>
              <a:t> Pathway Synthesis –</a:t>
            </a:r>
            <a:r>
              <a:rPr lang="en-US" sz="2000" dirty="0" smtClean="0"/>
              <a:t> Specialized AI reasoning powered by </a:t>
            </a:r>
            <a:r>
              <a:rPr lang="en-US" sz="2000" b="1" dirty="0" smtClean="0"/>
              <a:t>IBM Granite 4-h-small</a:t>
            </a:r>
            <a:r>
              <a:rPr lang="en-US" sz="2000" dirty="0" smtClean="0"/>
              <a:t> dynamically structures custom learning pathways based on domain, skill level, and study hours.</a:t>
            </a:r>
          </a:p>
          <a:p>
            <a:endParaRPr lang="en-US" sz="2000" dirty="0" smtClean="0"/>
          </a:p>
          <a:p>
            <a:r>
              <a:rPr lang="en-US" sz="2000" b="1" dirty="0" smtClean="0"/>
              <a:t>Hyper-Personalized Pacing –</a:t>
            </a:r>
            <a:r>
              <a:rPr lang="en-US" sz="2000" dirty="0" smtClean="0"/>
              <a:t> Adapts course depth and step durations to individual user availability, delivering realistic and actionable learning schedules.</a:t>
            </a:r>
          </a:p>
          <a:p>
            <a:endParaRPr lang="en-US" sz="2000" dirty="0" smtClean="0"/>
          </a:p>
          <a:p>
            <a:r>
              <a:rPr lang="en-US" sz="2000" b="1" dirty="0" smtClean="0"/>
              <a:t>Dynamic Knowledge Validation –</a:t>
            </a:r>
            <a:r>
              <a:rPr lang="en-US" sz="2000" dirty="0" smtClean="0"/>
              <a:t> Generates auto-evaluated interactive quizzes per module to test comprehension before advancing through the pathway.</a:t>
            </a:r>
          </a:p>
          <a:p>
            <a:endParaRPr lang="en-US" sz="2000" dirty="0" smtClean="0"/>
          </a:p>
          <a:p>
            <a:r>
              <a:rPr lang="en-US" sz="2000" b="1" dirty="0" smtClean="0"/>
              <a:t>Persistent Learner State –</a:t>
            </a:r>
            <a:r>
              <a:rPr lang="en-US" sz="2000" dirty="0" smtClean="0"/>
              <a:t> Integrates JWT authentication and </a:t>
            </a:r>
            <a:r>
              <a:rPr lang="en-US" sz="2000" dirty="0" err="1" smtClean="0"/>
              <a:t>SQLite</a:t>
            </a:r>
            <a:r>
              <a:rPr lang="en-US" sz="2000" dirty="0" smtClean="0"/>
              <a:t> database management to securely store user progress, quiz scores, and saved roadmaps across sessions.</a:t>
            </a:r>
          </a:p>
          <a:p>
            <a:endParaRPr lang="en-US" sz="2000" dirty="0" smtClean="0"/>
          </a:p>
          <a:p>
            <a:r>
              <a:rPr lang="en-US" sz="2000" dirty="0" smtClean="0"/>
              <a:t>This makes the solution a </a:t>
            </a:r>
            <a:r>
              <a:rPr lang="en-US" sz="2000" b="1" dirty="0" smtClean="0"/>
              <a:t>smart, adaptive, and proactive digital AI coach</a:t>
            </a:r>
            <a:r>
              <a:rPr lang="en-US" sz="2000" dirty="0" smtClean="0"/>
              <a:t>, not just a static learning content aggregator.</a:t>
            </a:r>
            <a:endParaRPr lang="en-US" sz="2000" dirty="0"/>
          </a:p>
        </p:txBody>
      </p:sp>
    </p:spTree>
    <p:extLst>
      <p:ext uri="{BB962C8B-B14F-4D97-AF65-F5344CB8AC3E}">
        <p14:creationId xmlns:p14="http://schemas.microsoft.com/office/powerpoint/2010/main" xmlns="" val="2325282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Git</a:t>
            </a:r>
            <a:r>
              <a:rPr lang="en-US" sz="2400" b="1" dirty="0">
                <a:sym typeface="Times New Roman"/>
              </a:rPr>
              <a:t> Hub Link</a:t>
            </a:r>
            <a:endParaRPr sz="2400" b="1">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805485" y="907528"/>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smtClean="0">
                <a:solidFill>
                  <a:srgbClr val="2B3541"/>
                </a:solidFill>
                <a:latin typeface="Times New Roman"/>
                <a:ea typeface="Times New Roman"/>
                <a:cs typeface="Times New Roman"/>
                <a:sym typeface="Times New Roman"/>
              </a:rPr>
              <a:t>·</a:t>
            </a:r>
            <a:endParaRPr lang="en-US" sz="185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smtClean="0">
                <a:latin typeface="Times New Roman"/>
                <a:ea typeface="Times New Roman"/>
                <a:cs typeface="Times New Roman"/>
                <a:sym typeface="Times New Roman"/>
                <a:hlinkClick r:id="rId3"/>
              </a:rPr>
              <a:t>https://github.com/Saracode06/LearnMate-Personalized-Course-Pathway.git</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007709" y="3325047"/>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xmlns="" val="4040412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963747" y="25367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840655" y="1195338"/>
            <a:ext cx="9214580" cy="4277001"/>
          </a:xfrm>
          <a:prstGeom prst="rect">
            <a:avLst/>
          </a:prstGeom>
          <a:noFill/>
          <a:ln>
            <a:noFill/>
          </a:ln>
        </p:spPr>
        <p:txBody>
          <a:bodyPr spcFirstLastPara="1" wrap="square" lIns="0" tIns="0" rIns="0" bIns="0" anchor="t" anchorCtr="0">
            <a:noAutofit/>
          </a:bodyPr>
          <a:lstStyle/>
          <a:p>
            <a:r>
              <a:rPr lang="en-US" sz="2400" b="1" dirty="0" smtClean="0"/>
              <a:t>1. Integration with Developer Platforms &amp; Coding Environments –</a:t>
            </a:r>
            <a:endParaRPr lang="en-US" sz="2400" dirty="0" smtClean="0"/>
          </a:p>
          <a:p>
            <a:r>
              <a:rPr lang="en-US" sz="2400" dirty="0" smtClean="0"/>
              <a:t>The system can be integrated with </a:t>
            </a:r>
            <a:r>
              <a:rPr lang="en-US" sz="2400" dirty="0" err="1" smtClean="0"/>
              <a:t>GitHub</a:t>
            </a:r>
            <a:r>
              <a:rPr lang="en-US" sz="2400" dirty="0" smtClean="0"/>
              <a:t>, </a:t>
            </a:r>
            <a:r>
              <a:rPr lang="en-US" sz="2400" dirty="0" err="1" smtClean="0"/>
              <a:t>LeetCode</a:t>
            </a:r>
            <a:r>
              <a:rPr lang="en-US" sz="2400" dirty="0" smtClean="0"/>
              <a:t>, and IDE extensions (like VS Code) to track real-time coding activity, repository commits, and project completion. This will enable </a:t>
            </a:r>
            <a:r>
              <a:rPr lang="en-US" sz="2400" dirty="0" err="1" smtClean="0"/>
              <a:t>LearnMate</a:t>
            </a:r>
            <a:r>
              <a:rPr lang="en-US" sz="2400" dirty="0" smtClean="0"/>
              <a:t> to dynamically adjust roadmap milestones based on practical execution and actual coding performance.</a:t>
            </a:r>
          </a:p>
          <a:p>
            <a:endParaRPr lang="en-US" sz="2400" dirty="0" smtClean="0"/>
          </a:p>
          <a:p>
            <a:r>
              <a:rPr lang="en-US" sz="2400" b="1" dirty="0" smtClean="0"/>
              <a:t>2. Multi-Modal AI Tutor &amp; Interactive Voice Mentorship –</a:t>
            </a:r>
            <a:endParaRPr lang="en-US" sz="2400" dirty="0" smtClean="0"/>
          </a:p>
          <a:p>
            <a:r>
              <a:rPr lang="en-US" sz="2400" dirty="0" smtClean="0"/>
              <a:t>Enhancing the system with voice-enabled AI coaching and automated code-review capabilities will improve learning engagement. Students can interact naturally via voice, ask clarifying questions on complex concepts, and receive real-time feedback in their preferred language.</a:t>
            </a:r>
            <a:endParaRPr lang="en-US" sz="2400" dirty="0"/>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xmlns="" val="740028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xmlns=""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097" name="Picture 1"/>
          <p:cNvPicPr>
            <a:picLocks noChangeAspect="1" noChangeArrowheads="1"/>
          </p:cNvPicPr>
          <p:nvPr/>
        </p:nvPicPr>
        <p:blipFill>
          <a:blip r:embed="rId2"/>
          <a:srcRect/>
          <a:stretch>
            <a:fillRect/>
          </a:stretch>
        </p:blipFill>
        <p:spPr bwMode="auto">
          <a:xfrm>
            <a:off x="2031023" y="1284418"/>
            <a:ext cx="6954715" cy="5386033"/>
          </a:xfrm>
          <a:prstGeom prst="rect">
            <a:avLst/>
          </a:prstGeom>
          <a:noFill/>
          <a:ln w="9525">
            <a:noFill/>
            <a:miter lim="800000"/>
            <a:headEnd/>
            <a:tailEnd/>
          </a:ln>
          <a:effectLst/>
        </p:spPr>
      </p:pic>
    </p:spTree>
    <p:extLst>
      <p:ext uri="{BB962C8B-B14F-4D97-AF65-F5344CB8AC3E}">
        <p14:creationId xmlns:p14="http://schemas.microsoft.com/office/powerpoint/2010/main" xmlns="" val="2833482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xmlns=""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073" name="Picture 1"/>
          <p:cNvPicPr>
            <a:picLocks noChangeAspect="1" noChangeArrowheads="1"/>
          </p:cNvPicPr>
          <p:nvPr/>
        </p:nvPicPr>
        <p:blipFill>
          <a:blip r:embed="rId2"/>
          <a:srcRect/>
          <a:stretch>
            <a:fillRect/>
          </a:stretch>
        </p:blipFill>
        <p:spPr bwMode="auto">
          <a:xfrm>
            <a:off x="1518504" y="1231168"/>
            <a:ext cx="8495933" cy="5255314"/>
          </a:xfrm>
          <a:prstGeom prst="rect">
            <a:avLst/>
          </a:prstGeom>
          <a:noFill/>
          <a:ln w="9525">
            <a:noFill/>
            <a:miter lim="800000"/>
            <a:headEnd/>
            <a:tailEnd/>
          </a:ln>
          <a:effectLst/>
        </p:spPr>
      </p:pic>
    </p:spTree>
    <p:extLst>
      <p:ext uri="{BB962C8B-B14F-4D97-AF65-F5344CB8AC3E}">
        <p14:creationId xmlns:p14="http://schemas.microsoft.com/office/powerpoint/2010/main" xmlns="" val="4175177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xmlns=""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1105</TotalTime>
  <Words>820</Words>
  <Application>Microsoft Office PowerPoint</Application>
  <PresentationFormat>Custom</PresentationFormat>
  <Paragraphs>111</Paragraphs>
  <Slides>29</Slides>
  <Notes>11</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16</cp:revision>
  <dcterms:created xsi:type="dcterms:W3CDTF">2025-07-08T05:06:56Z</dcterms:created>
  <dcterms:modified xsi:type="dcterms:W3CDTF">2026-09-11T08:17:22Z</dcterms:modified>
</cp:coreProperties>
</file>